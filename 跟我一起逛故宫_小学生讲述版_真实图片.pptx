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！今天我想当一回小导游，带大家逛一逛北京的故宫。故宫已经六百多岁了，里面有雄伟的宫殿、有趣的屋顶小兽，还有许多珍贵的文物。接下来，请大家带着一个问题出发：这么古老的地方，为什么值得我们珍惜？</a:t>
            </a:r>
          </a:p>
          <a:p>
            <a:r>
              <a:t>图片：https://img.dpm.org.cn/Uploads/Picture/2019/12/31/s5e0a95c8c2815.jpg</a:t>
            </a:r>
          </a:p>
          <a:p>
            <a:r>
              <a:t>来源：https://www.dpm.org.cn/explore/building/236465.html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故宫在北京市中心，也叫紫禁城。它南北长961米，接近1千米。如果沿着故宫从南向北走，就像走过一条长长的街。大家看照片，这就是角楼，城墙四角各有一座。建成这样一座大宫城，需要许多工匠一起努力。我们做小组作业时，也要学会分工合作。</a:t>
            </a:r>
          </a:p>
          <a:p/>
          <a:p>
            <a:r>
              <a:t>图片来源：https://img.dpm.org.cn/Uploads/Picture/2020/04/20/s5e9d3ef250ba9.jpg</a:t>
            </a:r>
          </a:p>
          <a:p>
            <a:r>
              <a:t>知识参考：https://www.dpm.org.cn/explore/buildings.html</a:t>
            </a:r>
          </a:p>
          <a:p>
            <a:r>
              <a:t>实景照片／文物局部图。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站，我们来找太和殿屋顶上的小兽。大家数一数，骑凤仙人后面有几只？答案是十只，其中有龙、凤、狮子等。它们不仅好看，还能帮助固定屋脊。太和殿主要用于举行重大典礼，并不是皇帝每天办公的地方。连高高的屋顶都做得这样用心，真值得我们仔细观察。</a:t>
            </a:r>
          </a:p>
          <a:p/>
          <a:p>
            <a:r>
              <a:t>图片来源：https://img.dpm.org.cn/Uploads/Picture/dc/1612[1024].jpg</a:t>
            </a:r>
          </a:p>
          <a:p>
            <a:r>
              <a:t>知识参考：https://www.dpm.org.cn/explore/building/236465.html</a:t>
            </a:r>
          </a:p>
          <a:p>
            <a:r>
              <a:t>实景照片／文物局部图。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再往里走，就来到后三宫：乾清宫、交泰殿和坤宁宫。照片里的是乾清宫，它曾经是皇帝的寝宫，也就是居住休息的地方。不过，皇宫里房子的用途也会变。清朝雍正皇帝以后，皇帝主要住在养心殿。所以，了解历史不能只靠电视剧，还要多读、多看、多问。</a:t>
            </a:r>
          </a:p>
          <a:p/>
          <a:p>
            <a:r>
              <a:t>图片来源：https://img.dpm.org.cn/Uploads/Picture/2020/04/17/s5e997affc5961.jpg</a:t>
            </a:r>
          </a:p>
          <a:p>
            <a:r>
              <a:t>知识参考：https://www.dpm.org.cn/explore/building/236472.html</a:t>
            </a:r>
          </a:p>
          <a:p>
            <a:r>
              <a:t>实景照片／文物局部图。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幅画叫《清明上河图》，作者是北宋画家张择端。看这一小段，桥上有人，河里有船，就像古代的生活照片。文物能够留到今天，也离不开守护者。1933年，为了躲避战火，故宫的一批批文物被装箱南迁。工作人员一路照看，保护的不只是物品，还有我们的历史。讲到这里，我们可以想一想：如果没有他们，我们还能看到这么多宝贝吗？</a:t>
            </a:r>
          </a:p>
          <a:p/>
          <a:p>
            <a:r>
              <a:t>图片来源：https://img.dpm.org.cn/Uploads/Picture/2017/05/12/s591529137db2e.jpg</a:t>
            </a:r>
          </a:p>
          <a:p>
            <a:r>
              <a:t>知识参考：https://www.dpm.org.cn/collection/paint/228226.html；https://www.dpm.org.cn/about/about_view.html</a:t>
            </a:r>
          </a:p>
          <a:p>
            <a:r>
              <a:t>实景照片／文物局部图。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去，这里是皇宫。1925年10月10日，故宫博物院成立，更多人能够走进这里，认识历史和艺术。1987年，故宫被列入世界遗产名录。这说明它也是全人类共同珍惜的文化遗产。今天，我在这里介绍故宫，也是在做一件小小的文化分享。</a:t>
            </a:r>
          </a:p>
          <a:p/>
          <a:p>
            <a:r>
              <a:t>图片来源：https://img.dpm.org.cn/Uploads/Picture/2020/04/17/s5e99275d2689f.jpg</a:t>
            </a:r>
          </a:p>
          <a:p>
            <a:r>
              <a:t>知识参考：https://www.dpm.org.cn/about/about_view.html</a:t>
            </a:r>
          </a:p>
          <a:p>
            <a:r>
              <a:t>实景照片／文物局部图。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暂时不能去北京，也有办法逛故宫。故宫博物院有“全景故宫”，可以在线游览；还有“数字文物库”，让我们仔细欣赏文物。左边这幅画就是官网提供的文物局部图片。原来，古老的文化和现代科技也能成为好朋友。回家后，我们可以和家长一起查一查。</a:t>
            </a:r>
          </a:p>
          <a:p/>
          <a:p>
            <a:r>
              <a:t>图片来源：https://img.dpm.org.cn/Uploads/Picture/2017/05/12/s591529137db2e.jpg</a:t>
            </a:r>
          </a:p>
          <a:p>
            <a:r>
              <a:t>知识参考：https://pano.dpm.org.cn/；https://digicol.dpm.org.cn/</a:t>
            </a:r>
          </a:p>
          <a:p>
            <a:r>
              <a:t>实景照片／文物局部图。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护故宫，是不是只有大人才能做？其实我们也可以。参观的时候，不乱摸、不刻画，遵守展厅的规定；看到有意思的建筑，多问一句它为什么这样建；回家以后，把今天学到的故事讲给家人听。这些事情虽然小，但每个人都认真去做，就能带来很大的力量。</a:t>
            </a:r>
          </a:p>
          <a:p/>
          <a:p>
            <a:r>
              <a:t>图片来源：https://img.dpm.org.cn/Uploads/Picture/2020/04/20/s5e9d3f7538d43.jpg</a:t>
            </a:r>
          </a:p>
          <a:p>
            <a:r>
              <a:t>知识参考：https://www.dpm.org.cn/Visit.html#block6</a:t>
            </a:r>
          </a:p>
          <a:p>
            <a:r>
              <a:t>实景照片／文物局部图。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，我们一起认识了角楼、屋顶小兽、后三宫和珍贵的文物。我最喜欢的是屋顶上的小兽，因为它们让我发现：古人的智慧，有时就藏在不起眼的细节里。故宫很大，装着六百多年的故事；我的行动可以很小，从认真了解、好好爱护开始。下次去故宫，你最想找哪只小兽呢？谢谢大家！</a:t>
            </a:r>
          </a:p>
          <a:p/>
          <a:p>
            <a:r>
              <a:t>图片来源：https://img.dpm.org.cn/Uploads/Picture/2020/04/20/s5e9d3ef250ba9.jpg</a:t>
            </a:r>
          </a:p>
          <a:p>
            <a:r>
              <a:t>知识参考：https://www.dpm.org.cn/</a:t>
            </a:r>
          </a:p>
          <a:p>
            <a:r>
              <a:t>实景照片／文物局部图。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aihe4.jpg"/>
          <p:cNvPicPr>
            <a:picLocks noChangeAspect="1"/>
          </p:cNvPicPr>
          <p:nvPr/>
        </p:nvPicPr>
        <p:blipFill>
          <a:blip r:embed="rId2"/>
          <a:srcRect l="31" r="31"/>
          <a:stretch>
            <a:fillRect/>
          </a:stretch>
        </p:blipFill>
        <p:spPr>
          <a:xfrm>
            <a:off x="0" y="0"/>
            <a:ext cx="12191695" cy="51846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937760"/>
            <a:ext cx="12191695" cy="1920240"/>
          </a:xfrm>
          <a:prstGeom prst="rect">
            <a:avLst/>
          </a:prstGeom>
          <a:solidFill>
            <a:srgbClr val="9D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7492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800" b="1">
                <a:solidFill>
                  <a:srgbClr val="FFFFFF"/>
                </a:solidFill>
                <a:latin typeface="Noto Sans CJK SC"/>
              </a:defRPr>
            </a:pPr>
            <a:r>
              <a:t>跟我一起逛故宫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897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FFFFFF"/>
                </a:solidFill>
                <a:latin typeface="Noto Sans CJK SC"/>
              </a:defRPr>
            </a:pPr>
            <a:r>
              <a:t>四年级小导游  ·  发现古人的智慧，学做文化小守护者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1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第一站：一座六百多岁的宫城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9D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746B5D"/>
                </a:solidFill>
                <a:latin typeface="Noto Sans CJK SC"/>
              </a:defRPr>
            </a:pPr>
            <a:r>
              <a:t>跟着课本去旅行  /  北京·故宫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9536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9D302C"/>
                </a:solidFill>
                <a:latin typeface="Noto Sans CJK SC"/>
              </a:defRPr>
            </a:pPr>
            <a:r>
              <a:t>故宫到底有多大？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934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746B5D"/>
                </a:solidFill>
                <a:latin typeface="Noto Sans CJK SC"/>
              </a:defRPr>
            </a:pPr>
            <a:r>
              <a:t>先看一看：红墙围起的，是怎样一座“大院子”？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82512"/>
            <a:ext cx="10972800" cy="13716"/>
          </a:xfrm>
          <a:prstGeom prst="rect">
            <a:avLst/>
          </a:prstGeom>
          <a:solidFill>
            <a:srgbClr val="D7A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图片与知识来源：故宫博物院官网  |  详细出处见备注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9D302C"/>
                </a:solidFill>
                <a:latin typeface="Noto Sans CJK SC"/>
              </a:defRPr>
            </a:pPr>
            <a:r>
              <a:t>02</a:t>
            </a:r>
          </a:p>
        </p:txBody>
      </p:sp>
      <p:pic>
        <p:nvPicPr>
          <p:cNvPr id="9" name="Picture 8" descr="corner0.jpg"/>
          <p:cNvPicPr>
            <a:picLocks noChangeAspect="1"/>
          </p:cNvPicPr>
          <p:nvPr/>
        </p:nvPicPr>
        <p:blipFill>
          <a:blip r:embed="rId2"/>
          <a:srcRect t="7979" b="7979"/>
          <a:stretch>
            <a:fillRect/>
          </a:stretch>
        </p:blipFill>
        <p:spPr>
          <a:xfrm>
            <a:off x="594360" y="2286000"/>
            <a:ext cx="6446520" cy="3611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0" y="2286000"/>
            <a:ext cx="425196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2606040"/>
            <a:ext cx="3712463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34332F"/>
                </a:solidFill>
                <a:latin typeface="Noto Sans CJK SC"/>
              </a:defRPr>
            </a:pPr>
            <a:r>
              <a:t>故宫在北京。</a:t>
            </a:r>
          </a:p>
          <a:p>
            <a:pPr>
              <a:spcAft>
                <a:spcPts val="1200"/>
              </a:spcAft>
              <a:defRPr sz="2400" b="0">
                <a:solidFill>
                  <a:srgbClr val="34332F"/>
                </a:solidFill>
                <a:latin typeface="Noto Sans CJK SC"/>
              </a:defRPr>
            </a:pPr>
            <a:r>
              <a:t>南北长961米，</a:t>
            </a:r>
          </a:p>
          <a:p>
            <a:pPr>
              <a:spcAft>
                <a:spcPts val="1200"/>
              </a:spcAft>
              <a:defRPr sz="2400" b="0">
                <a:solidFill>
                  <a:srgbClr val="34332F"/>
                </a:solidFill>
                <a:latin typeface="Noto Sans CJK SC"/>
              </a:defRPr>
            </a:pPr>
            <a:r>
              <a:t>接近1千米！</a:t>
            </a:r>
          </a:p>
          <a:p>
            <a:pPr>
              <a:spcAft>
                <a:spcPts val="1200"/>
              </a:spcAft>
              <a:defRPr sz="2400" b="0">
                <a:solidFill>
                  <a:srgbClr val="34332F"/>
                </a:solidFill>
                <a:latin typeface="Noto Sans CJK SC"/>
              </a:defRPr>
            </a:pPr>
            <a:r>
              <a:t>城墙四角各有一座角楼。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0176"/>
            <a:ext cx="10881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47796B"/>
                </a:solidFill>
                <a:latin typeface="Noto Sans CJK SC"/>
              </a:defRPr>
            </a:pPr>
            <a:r>
              <a:t>这么大的工程，离不开工匠们的认真合作。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9D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746B5D"/>
                </a:solidFill>
                <a:latin typeface="Noto Sans CJK SC"/>
              </a:defRPr>
            </a:pPr>
            <a:r>
              <a:t>跟着课本去旅行  /  北京·故宫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9536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9D302C"/>
                </a:solidFill>
                <a:latin typeface="Noto Sans CJK SC"/>
              </a:defRPr>
            </a:pPr>
            <a:r>
              <a:t>屋顶上，谁在排队？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934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746B5D"/>
                </a:solidFill>
                <a:latin typeface="Noto Sans CJK SC"/>
              </a:defRPr>
            </a:pPr>
            <a:r>
              <a:t>数一数：仙人后面，跟着几只小兽？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82512"/>
            <a:ext cx="10972800" cy="13716"/>
          </a:xfrm>
          <a:prstGeom prst="rect">
            <a:avLst/>
          </a:prstGeom>
          <a:solidFill>
            <a:srgbClr val="D7A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图片与知识来源：故宫博物院官网  |  详细出处见备注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9D302C"/>
                </a:solidFill>
                <a:latin typeface="Noto Sans CJK SC"/>
              </a:defRPr>
            </a:pPr>
            <a:r>
              <a:t>03</a:t>
            </a:r>
          </a:p>
        </p:txBody>
      </p:sp>
      <p:pic>
        <p:nvPicPr>
          <p:cNvPr id="9" name="Picture 8" descr="beasts.jpg"/>
          <p:cNvPicPr>
            <a:picLocks noChangeAspect="1"/>
          </p:cNvPicPr>
          <p:nvPr/>
        </p:nvPicPr>
        <p:blipFill>
          <a:blip r:embed="rId2"/>
          <a:srcRect t="13550" b="13550"/>
          <a:stretch>
            <a:fillRect/>
          </a:stretch>
        </p:blipFill>
        <p:spPr>
          <a:xfrm>
            <a:off x="594360" y="2286000"/>
            <a:ext cx="6446520" cy="3611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0" y="2286000"/>
            <a:ext cx="425196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2606040"/>
            <a:ext cx="3712463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34332F"/>
                </a:solidFill>
                <a:latin typeface="Noto Sans CJK SC"/>
              </a:defRPr>
            </a:pPr>
            <a:r>
              <a:t>这是太和殿的屋顶。</a:t>
            </a:r>
          </a:p>
          <a:p>
            <a:pPr>
              <a:spcAft>
                <a:spcPts val="1200"/>
              </a:spcAft>
              <a:defRPr sz="2400" b="0">
                <a:solidFill>
                  <a:srgbClr val="34332F"/>
                </a:solidFill>
                <a:latin typeface="Noto Sans CJK SC"/>
              </a:defRPr>
            </a:pPr>
            <a:r>
              <a:t>最前面是骑凤仙人，</a:t>
            </a:r>
          </a:p>
          <a:p>
            <a:pPr>
              <a:spcAft>
                <a:spcPts val="1200"/>
              </a:spcAft>
              <a:defRPr sz="2400" b="0">
                <a:solidFill>
                  <a:srgbClr val="34332F"/>
                </a:solidFill>
                <a:latin typeface="Noto Sans CJK SC"/>
              </a:defRPr>
            </a:pPr>
            <a:r>
              <a:t>后面有10只小兽。</a:t>
            </a:r>
          </a:p>
          <a:p>
            <a:pPr>
              <a:spcAft>
                <a:spcPts val="1200"/>
              </a:spcAft>
              <a:defRPr sz="2400" b="0">
                <a:solidFill>
                  <a:srgbClr val="34332F"/>
                </a:solidFill>
                <a:latin typeface="Noto Sans CJK SC"/>
              </a:defRPr>
            </a:pPr>
            <a:r>
              <a:t>它们还帮助固定屋脊。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0176"/>
            <a:ext cx="10881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47796B"/>
                </a:solidFill>
                <a:latin typeface="Noto Sans CJK SC"/>
              </a:defRPr>
            </a:pPr>
            <a:r>
              <a:t>小小的细节，也藏着古人的智慧。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9D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746B5D"/>
                </a:solidFill>
                <a:latin typeface="Noto Sans CJK SC"/>
              </a:defRPr>
            </a:pPr>
            <a:r>
              <a:t>跟着课本去旅行  /  北京·故宫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9536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9D302C"/>
                </a:solidFill>
                <a:latin typeface="Noto Sans CJK SC"/>
              </a:defRPr>
            </a:pPr>
            <a:r>
              <a:t>走进皇宫的生活区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934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746B5D"/>
                </a:solidFill>
                <a:latin typeface="Noto Sans CJK SC"/>
              </a:defRPr>
            </a:pPr>
            <a:r>
              <a:t>看一看：这座宫殿的名字，你认识吗？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82512"/>
            <a:ext cx="10972800" cy="13716"/>
          </a:xfrm>
          <a:prstGeom prst="rect">
            <a:avLst/>
          </a:prstGeom>
          <a:solidFill>
            <a:srgbClr val="D7A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图片与知识来源：故宫博物院官网  |  详细出处见备注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9D302C"/>
                </a:solidFill>
                <a:latin typeface="Noto Sans CJK SC"/>
              </a:defRPr>
            </a:pPr>
            <a:r>
              <a:t>04</a:t>
            </a:r>
          </a:p>
        </p:txBody>
      </p:sp>
      <p:pic>
        <p:nvPicPr>
          <p:cNvPr id="9" name="Picture 8" descr="qianqing0.jpg"/>
          <p:cNvPicPr>
            <a:picLocks noChangeAspect="1"/>
          </p:cNvPicPr>
          <p:nvPr/>
        </p:nvPicPr>
        <p:blipFill>
          <a:blip r:embed="rId2"/>
          <a:srcRect t="7979" b="7979"/>
          <a:stretch>
            <a:fillRect/>
          </a:stretch>
        </p:blipFill>
        <p:spPr>
          <a:xfrm>
            <a:off x="594360" y="2286000"/>
            <a:ext cx="6446520" cy="3611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0" y="2286000"/>
            <a:ext cx="425196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2606040"/>
            <a:ext cx="3712463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34332F"/>
                </a:solidFill>
                <a:latin typeface="Noto Sans CJK SC"/>
              </a:defRPr>
            </a:pPr>
            <a:r>
              <a:t>乾清宫、交泰殿、坤宁宫，</a:t>
            </a:r>
          </a:p>
          <a:p>
            <a:pPr>
              <a:spcAft>
                <a:spcPts val="1200"/>
              </a:spcAft>
              <a:defRPr sz="2400" b="0">
                <a:solidFill>
                  <a:srgbClr val="34332F"/>
                </a:solidFill>
                <a:latin typeface="Noto Sans CJK SC"/>
              </a:defRPr>
            </a:pPr>
            <a:r>
              <a:t>合称“后三宫”。</a:t>
            </a:r>
          </a:p>
          <a:p>
            <a:pPr>
              <a:spcAft>
                <a:spcPts val="1200"/>
              </a:spcAft>
              <a:defRPr sz="2400" b="0">
                <a:solidFill>
                  <a:srgbClr val="34332F"/>
                </a:solidFill>
                <a:latin typeface="Noto Sans CJK SC"/>
              </a:defRPr>
            </a:pPr>
            <a:r>
              <a:t>乾清宫曾是皇帝的寝宫，</a:t>
            </a:r>
          </a:p>
          <a:p>
            <a:pPr>
              <a:spcAft>
                <a:spcPts val="1200"/>
              </a:spcAft>
              <a:defRPr sz="2400" b="0">
                <a:solidFill>
                  <a:srgbClr val="34332F"/>
                </a:solidFill>
                <a:latin typeface="Noto Sans CJK SC"/>
              </a:defRPr>
            </a:pPr>
            <a:r>
              <a:t>后来用途也有变化。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0176"/>
            <a:ext cx="10881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47796B"/>
                </a:solidFill>
                <a:latin typeface="Noto Sans CJK SC"/>
              </a:defRPr>
            </a:pPr>
            <a:r>
              <a:t>多问一句“为什么”，历史就会更有趣。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9D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746B5D"/>
                </a:solidFill>
                <a:latin typeface="Noto Sans CJK SC"/>
              </a:defRPr>
            </a:pPr>
            <a:r>
              <a:t>跟着课本去旅行  /  北京·故宫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9536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9D302C"/>
                </a:solidFill>
                <a:latin typeface="Noto Sans CJK SC"/>
              </a:defRPr>
            </a:pPr>
            <a:r>
              <a:t>一幅画，讲出古人的生活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934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746B5D"/>
                </a:solidFill>
                <a:latin typeface="Noto Sans CJK SC"/>
              </a:defRPr>
            </a:pPr>
            <a:r>
              <a:t>找一找：桥、船、行人，你发现了什么？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82512"/>
            <a:ext cx="10972800" cy="13716"/>
          </a:xfrm>
          <a:prstGeom prst="rect">
            <a:avLst/>
          </a:prstGeom>
          <a:solidFill>
            <a:srgbClr val="D7A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图片与知识来源：故宫博物院官网  |  详细出处见备注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9D302C"/>
                </a:solidFill>
                <a:latin typeface="Noto Sans CJK SC"/>
              </a:defRPr>
            </a:pPr>
            <a:r>
              <a:t>05</a:t>
            </a:r>
          </a:p>
        </p:txBody>
      </p:sp>
      <p:pic>
        <p:nvPicPr>
          <p:cNvPr id="9" name="Picture 8" descr="painting.jpg"/>
          <p:cNvPicPr>
            <a:picLocks noChangeAspect="1"/>
          </p:cNvPicPr>
          <p:nvPr/>
        </p:nvPicPr>
        <p:blipFill>
          <a:blip r:embed="rId2"/>
          <a:srcRect l="14531" r="14531"/>
          <a:stretch>
            <a:fillRect/>
          </a:stretch>
        </p:blipFill>
        <p:spPr>
          <a:xfrm>
            <a:off x="594360" y="2286000"/>
            <a:ext cx="6446520" cy="3611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0" y="2286000"/>
            <a:ext cx="425196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2606040"/>
            <a:ext cx="3712463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34332F"/>
                </a:solidFill>
                <a:latin typeface="Noto Sans CJK SC"/>
              </a:defRPr>
            </a:pPr>
            <a:r>
              <a:t>《清明上河图》里，</a:t>
            </a:r>
          </a:p>
          <a:p>
            <a:pPr>
              <a:spcAft>
                <a:spcPts val="1200"/>
              </a:spcAft>
              <a:defRPr sz="2400" b="0">
                <a:solidFill>
                  <a:srgbClr val="34332F"/>
                </a:solidFill>
                <a:latin typeface="Noto Sans CJK SC"/>
              </a:defRPr>
            </a:pPr>
            <a:r>
              <a:t>藏着热闹的古代街市。</a:t>
            </a:r>
          </a:p>
          <a:p>
            <a:pPr>
              <a:spcAft>
                <a:spcPts val="1200"/>
              </a:spcAft>
              <a:defRPr sz="2400" b="0">
                <a:solidFill>
                  <a:srgbClr val="34332F"/>
                </a:solidFill>
                <a:latin typeface="Noto Sans CJK SC"/>
              </a:defRPr>
            </a:pPr>
            <a:r>
              <a:t>1933年，故宫文物南迁，</a:t>
            </a:r>
          </a:p>
          <a:p>
            <a:pPr>
              <a:spcAft>
                <a:spcPts val="1200"/>
              </a:spcAft>
              <a:defRPr sz="2400" b="0">
                <a:solidFill>
                  <a:srgbClr val="34332F"/>
                </a:solidFill>
                <a:latin typeface="Noto Sans CJK SC"/>
              </a:defRPr>
            </a:pPr>
            <a:r>
              <a:t>守护者护送它们躲避战火。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0176"/>
            <a:ext cx="10881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47796B"/>
                </a:solidFill>
                <a:latin typeface="Noto Sans CJK SC"/>
              </a:defRPr>
            </a:pPr>
            <a:r>
              <a:t>每一件传下来的宝贝，都值得珍惜。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9D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746B5D"/>
                </a:solidFill>
                <a:latin typeface="Noto Sans CJK SC"/>
              </a:defRPr>
            </a:pPr>
            <a:r>
              <a:t>跟着课本去旅行  /  北京·故宫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9536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9D302C"/>
                </a:solidFill>
                <a:latin typeface="Noto Sans CJK SC"/>
              </a:defRPr>
            </a:pPr>
            <a:r>
              <a:t>从皇宫，到大家的博物馆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934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746B5D"/>
                </a:solidFill>
                <a:latin typeface="Noto Sans CJK SC"/>
              </a:defRPr>
            </a:pPr>
            <a:r>
              <a:t>记一记：两个重要的年份。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82512"/>
            <a:ext cx="10972800" cy="13716"/>
          </a:xfrm>
          <a:prstGeom prst="rect">
            <a:avLst/>
          </a:prstGeom>
          <a:solidFill>
            <a:srgbClr val="D7A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图片与知识来源：故宫博物院官网  |  详细出处见备注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9D302C"/>
                </a:solidFill>
                <a:latin typeface="Noto Sans CJK SC"/>
              </a:defRPr>
            </a:pPr>
            <a:r>
              <a:t>06</a:t>
            </a:r>
          </a:p>
        </p:txBody>
      </p:sp>
      <p:pic>
        <p:nvPicPr>
          <p:cNvPr id="9" name="Picture 8" descr="taihe2.jpg"/>
          <p:cNvPicPr>
            <a:picLocks noChangeAspect="1"/>
          </p:cNvPicPr>
          <p:nvPr/>
        </p:nvPicPr>
        <p:blipFill>
          <a:blip r:embed="rId2"/>
          <a:srcRect t="7979" b="7979"/>
          <a:stretch>
            <a:fillRect/>
          </a:stretch>
        </p:blipFill>
        <p:spPr>
          <a:xfrm>
            <a:off x="594360" y="2286000"/>
            <a:ext cx="6446520" cy="3611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0" y="2286000"/>
            <a:ext cx="425196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2606040"/>
            <a:ext cx="3712463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34332F"/>
                </a:solidFill>
                <a:latin typeface="Noto Sans CJK SC"/>
              </a:defRPr>
            </a:pPr>
            <a:r>
              <a:t>1925年10月10日，</a:t>
            </a:r>
          </a:p>
          <a:p>
            <a:pPr>
              <a:spcAft>
                <a:spcPts val="1200"/>
              </a:spcAft>
              <a:defRPr sz="2400" b="0">
                <a:solidFill>
                  <a:srgbClr val="34332F"/>
                </a:solidFill>
                <a:latin typeface="Noto Sans CJK SC"/>
              </a:defRPr>
            </a:pPr>
            <a:r>
              <a:t>故宫博物院成立。</a:t>
            </a:r>
          </a:p>
          <a:p>
            <a:pPr>
              <a:spcAft>
                <a:spcPts val="1200"/>
              </a:spcAft>
              <a:defRPr sz="2400" b="0">
                <a:solidFill>
                  <a:srgbClr val="34332F"/>
                </a:solidFill>
                <a:latin typeface="Noto Sans CJK SC"/>
              </a:defRPr>
            </a:pPr>
            <a:r>
              <a:t>1987年，</a:t>
            </a:r>
          </a:p>
          <a:p>
            <a:pPr>
              <a:spcAft>
                <a:spcPts val="1200"/>
              </a:spcAft>
              <a:defRPr sz="2400" b="0">
                <a:solidFill>
                  <a:srgbClr val="34332F"/>
                </a:solidFill>
                <a:latin typeface="Noto Sans CJK SC"/>
              </a:defRPr>
            </a:pPr>
            <a:r>
              <a:t>故宫成为世界文化遗产。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0176"/>
            <a:ext cx="10881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47796B"/>
                </a:solidFill>
                <a:latin typeface="Noto Sans CJK SC"/>
              </a:defRPr>
            </a:pPr>
            <a:r>
              <a:t>认识自己的文化，也把它介绍给更多人。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9D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746B5D"/>
                </a:solidFill>
                <a:latin typeface="Noto Sans CJK SC"/>
              </a:defRPr>
            </a:pPr>
            <a:r>
              <a:t>跟着课本去旅行  /  北京·故宫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9536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9D302C"/>
                </a:solidFill>
                <a:latin typeface="Noto Sans CJK SC"/>
              </a:defRPr>
            </a:pPr>
            <a:r>
              <a:t>古老的故宫，也会用科技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934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746B5D"/>
                </a:solidFill>
                <a:latin typeface="Noto Sans CJK SC"/>
              </a:defRPr>
            </a:pPr>
            <a:r>
              <a:t>想一想：不去北京，也能看故宫吗？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82512"/>
            <a:ext cx="10972800" cy="13716"/>
          </a:xfrm>
          <a:prstGeom prst="rect">
            <a:avLst/>
          </a:prstGeom>
          <a:solidFill>
            <a:srgbClr val="D7A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图片与知识来源：故宫博物院官网  |  详细出处见备注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9D302C"/>
                </a:solidFill>
                <a:latin typeface="Noto Sans CJK SC"/>
              </a:defRPr>
            </a:pPr>
            <a:r>
              <a:t>07</a:t>
            </a:r>
          </a:p>
        </p:txBody>
      </p:sp>
      <p:pic>
        <p:nvPicPr>
          <p:cNvPr id="9" name="Picture 8" descr="painting.jpg"/>
          <p:cNvPicPr>
            <a:picLocks noChangeAspect="1"/>
          </p:cNvPicPr>
          <p:nvPr/>
        </p:nvPicPr>
        <p:blipFill>
          <a:blip r:embed="rId2"/>
          <a:srcRect l="14531" r="14531"/>
          <a:stretch>
            <a:fillRect/>
          </a:stretch>
        </p:blipFill>
        <p:spPr>
          <a:xfrm>
            <a:off x="594360" y="2286000"/>
            <a:ext cx="6446520" cy="3611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0" y="2286000"/>
            <a:ext cx="425196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2606040"/>
            <a:ext cx="3712463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34332F"/>
                </a:solidFill>
                <a:latin typeface="Noto Sans CJK SC"/>
              </a:defRPr>
            </a:pPr>
            <a:r>
              <a:t>打开“全景故宫”，</a:t>
            </a:r>
          </a:p>
          <a:p>
            <a:pPr>
              <a:spcAft>
                <a:spcPts val="1200"/>
              </a:spcAft>
              <a:defRPr sz="2400" b="0">
                <a:solidFill>
                  <a:srgbClr val="34332F"/>
                </a:solidFill>
                <a:latin typeface="Noto Sans CJK SC"/>
              </a:defRPr>
            </a:pPr>
            <a:r>
              <a:t>可以在线游览宫殿。</a:t>
            </a:r>
          </a:p>
          <a:p>
            <a:pPr>
              <a:spcAft>
                <a:spcPts val="1200"/>
              </a:spcAft>
              <a:defRPr sz="2400" b="0">
                <a:solidFill>
                  <a:srgbClr val="34332F"/>
                </a:solidFill>
                <a:latin typeface="Noto Sans CJK SC"/>
              </a:defRPr>
            </a:pPr>
            <a:r>
              <a:t>进入“数字文物库”，</a:t>
            </a:r>
          </a:p>
          <a:p>
            <a:pPr>
              <a:spcAft>
                <a:spcPts val="1200"/>
              </a:spcAft>
              <a:defRPr sz="2400" b="0">
                <a:solidFill>
                  <a:srgbClr val="34332F"/>
                </a:solidFill>
                <a:latin typeface="Noto Sans CJK SC"/>
              </a:defRPr>
            </a:pPr>
            <a:r>
              <a:t>还能放大欣赏文物细节。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0176"/>
            <a:ext cx="10881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47796B"/>
                </a:solidFill>
                <a:latin typeface="Noto Sans CJK SC"/>
              </a:defRPr>
            </a:pPr>
            <a:r>
              <a:t>用新技术，让更多人遇见传统文化。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9D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746B5D"/>
                </a:solidFill>
                <a:latin typeface="Noto Sans CJK SC"/>
              </a:defRPr>
            </a:pPr>
            <a:r>
              <a:t>跟着课本去旅行  /  北京·故宫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9536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9D302C"/>
                </a:solidFill>
                <a:latin typeface="Noto Sans CJK SC"/>
              </a:defRPr>
            </a:pPr>
            <a:r>
              <a:t>我也能当“小小守护者”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934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746B5D"/>
                </a:solidFill>
                <a:latin typeface="Noto Sans CJK SC"/>
              </a:defRPr>
            </a:pPr>
            <a:r>
              <a:t>从三件小事开始。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82512"/>
            <a:ext cx="10972800" cy="13716"/>
          </a:xfrm>
          <a:prstGeom prst="rect">
            <a:avLst/>
          </a:prstGeom>
          <a:solidFill>
            <a:srgbClr val="D7A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图片与知识来源：故宫博物院官网  |  详细出处见备注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9D302C"/>
                </a:solidFill>
                <a:latin typeface="Noto Sans CJK SC"/>
              </a:defRPr>
            </a:pPr>
            <a:r>
              <a:t>08</a:t>
            </a:r>
          </a:p>
        </p:txBody>
      </p:sp>
      <p:pic>
        <p:nvPicPr>
          <p:cNvPr id="9" name="Picture 8" descr="corner3.jpg"/>
          <p:cNvPicPr>
            <a:picLocks noChangeAspect="1"/>
          </p:cNvPicPr>
          <p:nvPr/>
        </p:nvPicPr>
        <p:blipFill>
          <a:blip r:embed="rId2"/>
          <a:srcRect t="34235" b="34235"/>
          <a:stretch>
            <a:fillRect/>
          </a:stretch>
        </p:blipFill>
        <p:spPr>
          <a:xfrm>
            <a:off x="594360" y="2286000"/>
            <a:ext cx="6446520" cy="3611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0" y="2286000"/>
            <a:ext cx="425196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2606040"/>
            <a:ext cx="3712463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34332F"/>
                </a:solidFill>
                <a:latin typeface="Noto Sans CJK SC"/>
              </a:defRPr>
            </a:pPr>
            <a:r>
              <a:t>参观时：不乱摸，不刻画。</a:t>
            </a:r>
          </a:p>
          <a:p>
            <a:pPr>
              <a:spcAft>
                <a:spcPts val="1200"/>
              </a:spcAft>
              <a:defRPr sz="2400" b="0">
                <a:solidFill>
                  <a:srgbClr val="34332F"/>
                </a:solidFill>
                <a:latin typeface="Noto Sans CJK SC"/>
              </a:defRPr>
            </a:pPr>
            <a:r>
              <a:t>学习时：多观察，多提问。</a:t>
            </a:r>
          </a:p>
          <a:p>
            <a:pPr>
              <a:spcAft>
                <a:spcPts val="1200"/>
              </a:spcAft>
              <a:defRPr sz="2400" b="0">
                <a:solidFill>
                  <a:srgbClr val="34332F"/>
                </a:solidFill>
                <a:latin typeface="Noto Sans CJK SC"/>
              </a:defRPr>
            </a:pPr>
            <a:r>
              <a:t>回家后：</a:t>
            </a:r>
          </a:p>
          <a:p>
            <a:pPr>
              <a:spcAft>
                <a:spcPts val="1200"/>
              </a:spcAft>
              <a:defRPr sz="2400" b="0">
                <a:solidFill>
                  <a:srgbClr val="34332F"/>
                </a:solidFill>
                <a:latin typeface="Noto Sans CJK SC"/>
              </a:defRPr>
            </a:pPr>
            <a:r>
              <a:t>给家人讲一个故宫故事。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0176"/>
            <a:ext cx="10881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47796B"/>
                </a:solidFill>
                <a:latin typeface="Noto Sans CJK SC"/>
              </a:defRPr>
            </a:pPr>
            <a:r>
              <a:t>认真了解、好好爱护，就是在守护文化。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9D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746B5D"/>
                </a:solidFill>
                <a:latin typeface="Noto Sans CJK SC"/>
              </a:defRPr>
            </a:pPr>
            <a:r>
              <a:t>跟着课本去旅行  /  北京·故宫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9536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9D302C"/>
                </a:solidFill>
                <a:latin typeface="Noto Sans CJK SC"/>
              </a:defRPr>
            </a:pPr>
            <a:r>
              <a:t>我的故宫之旅，还想继续！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934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746B5D"/>
                </a:solidFill>
                <a:latin typeface="Noto Sans CJK SC"/>
              </a:defRPr>
            </a:pPr>
            <a:r>
              <a:t>最后问大家一个问题。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82512"/>
            <a:ext cx="10972800" cy="13716"/>
          </a:xfrm>
          <a:prstGeom prst="rect">
            <a:avLst/>
          </a:prstGeom>
          <a:solidFill>
            <a:srgbClr val="D7A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图片与知识来源：故宫博物院官网  |  详细出处见备注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9D302C"/>
                </a:solidFill>
                <a:latin typeface="Noto Sans CJK SC"/>
              </a:defRPr>
            </a:pPr>
            <a:r>
              <a:t>09</a:t>
            </a:r>
          </a:p>
        </p:txBody>
      </p:sp>
      <p:pic>
        <p:nvPicPr>
          <p:cNvPr id="9" name="Picture 8" descr="corner0.jpg"/>
          <p:cNvPicPr>
            <a:picLocks noChangeAspect="1"/>
          </p:cNvPicPr>
          <p:nvPr/>
        </p:nvPicPr>
        <p:blipFill>
          <a:blip r:embed="rId2"/>
          <a:srcRect t="7979" b="7979"/>
          <a:stretch>
            <a:fillRect/>
          </a:stretch>
        </p:blipFill>
        <p:spPr>
          <a:xfrm>
            <a:off x="594360" y="2286000"/>
            <a:ext cx="6446520" cy="3611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0" y="2286000"/>
            <a:ext cx="425196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2606040"/>
            <a:ext cx="3712463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34332F"/>
                </a:solidFill>
                <a:latin typeface="Noto Sans CJK SC"/>
              </a:defRPr>
            </a:pPr>
            <a:r>
              <a:t>故宫很大，</a:t>
            </a:r>
          </a:p>
          <a:p>
            <a:pPr>
              <a:spcAft>
                <a:spcPts val="1200"/>
              </a:spcAft>
              <a:defRPr sz="2400" b="0">
                <a:solidFill>
                  <a:srgbClr val="34332F"/>
                </a:solidFill>
                <a:latin typeface="Noto Sans CJK SC"/>
              </a:defRPr>
            </a:pPr>
            <a:r>
              <a:t>装着六百多年的故事。</a:t>
            </a:r>
          </a:p>
          <a:p>
            <a:pPr>
              <a:spcAft>
                <a:spcPts val="1200"/>
              </a:spcAft>
              <a:defRPr sz="2400" b="0">
                <a:solidFill>
                  <a:srgbClr val="34332F"/>
                </a:solidFill>
                <a:latin typeface="Noto Sans CJK SC"/>
              </a:defRPr>
            </a:pPr>
            <a:r>
              <a:t>我的行动可以很小：</a:t>
            </a:r>
          </a:p>
          <a:p>
            <a:pPr>
              <a:spcAft>
                <a:spcPts val="1200"/>
              </a:spcAft>
              <a:defRPr sz="2400" b="0">
                <a:solidFill>
                  <a:srgbClr val="34332F"/>
                </a:solidFill>
                <a:latin typeface="Noto Sans CJK SC"/>
              </a:defRPr>
            </a:pPr>
            <a:r>
              <a:t>从认真了解、好好爱护开始。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0176"/>
            <a:ext cx="10881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47796B"/>
                </a:solidFill>
                <a:latin typeface="Noto Sans CJK SC"/>
              </a:defRPr>
            </a:pPr>
            <a:r>
              <a:t>下次去故宫，你最想找哪只屋顶小兽？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